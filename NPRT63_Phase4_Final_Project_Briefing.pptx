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9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41148" cy="68580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C64B"/>
                </a:solidFill>
              </a:rPr>
              <a:t>NPRT630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Project Phase 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94944" y="187452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6F2"/>
                </a:solidFill>
              </a:rPr>
              <a:t>Implementation, Submission &amp; Live Assessment Briefing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4944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0"/>
                </a:solidFill>
              </a:rPr>
              <a:t>ICT 3rd Year  •  October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4800600"/>
            <a:ext cx="5852160" cy="868680"/>
          </a:xfrm>
          <a:prstGeom prst="roundRect">
            <a:avLst>
              <a:gd name="adj" fmla="val 8421"/>
            </a:avLst>
          </a:prstGeom>
          <a:solidFill>
            <a:srgbClr val="17324C"/>
          </a:solidFill>
          <a:ln w="12700">
            <a:solidFill>
              <a:srgbClr val="17324C"/>
            </a:solidFill>
            <a:prstDash val="solid"/>
          </a:ln>
          <a:effectLst>
            <a:outerShdw blurRad="1270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5486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Focus now: complete the working system, submit the established artefacts, and be ready to verify and explain what your group has built.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78040" y="804672"/>
            <a:ext cx="4434840" cy="53492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3B4D63"/>
            </a:solidFill>
            <a:prstDash val="solid"/>
          </a:ln>
          <a:effectLst>
            <a:outerShdw blurRad="20320" dist="1143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ZA" dirty="0"/>
          </a:p>
        </p:txBody>
      </p:sp>
      <p:pic>
        <p:nvPicPr>
          <p:cNvPr id="11" name="Image 0" descr="/mnt/data/nprt_assets/page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181726"/>
            <a:ext cx="4071576" cy="229026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52360" y="589788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EBBD0"/>
                </a:solidFill>
              </a:rPr>
              <a:t>Phase 4 anchor slide from lecturer guidance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C98A8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NPRT63 Project | Final Phase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Official framing: what this briefing clarifies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005840" cy="0"/>
          </a:xfrm>
          <a:prstGeom prst="line">
            <a:avLst/>
          </a:prstGeom>
          <a:noFill/>
          <a:ln w="381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586"/>
                </a:solidFill>
              </a:rPr>
              <a:t>The remaining work is a continuation of the established module structure.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10515600" cy="0"/>
          </a:xfrm>
          <a:prstGeom prst="line">
            <a:avLst/>
          </a:prstGeom>
          <a:noFill/>
          <a:ln w="25400">
            <a:solidFill>
              <a:srgbClr val="BFC9D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0203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777240" y="19568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51460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033"/>
                </a:solidFill>
              </a:rPr>
              <a:t>Phase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" y="2807208"/>
            <a:ext cx="1783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27323F"/>
                </a:solidFill>
              </a:rPr>
              <a:t>Project Proposal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65760" y="3227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97586"/>
                </a:solidFill>
              </a:rPr>
              <a:t>10%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11880" y="1828800"/>
            <a:ext cx="548640" cy="548640"/>
          </a:xfrm>
          <a:prstGeom prst="ellipse">
            <a:avLst/>
          </a:prstGeom>
          <a:solidFill>
            <a:srgbClr val="10203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3611880" y="19568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08960" y="251460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033"/>
                </a:solidFill>
              </a:rPr>
              <a:t>Phase 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2807208"/>
            <a:ext cx="1783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27323F"/>
                </a:solidFill>
              </a:rPr>
              <a:t>Requirements Specification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3200400" y="3227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97586"/>
                </a:solidFill>
              </a:rPr>
              <a:t>20%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46520" y="1828800"/>
            <a:ext cx="548640" cy="548640"/>
          </a:xfrm>
          <a:prstGeom prst="ellipse">
            <a:avLst/>
          </a:prstGeom>
          <a:solidFill>
            <a:srgbClr val="10203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6446520" y="19568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251460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033"/>
                </a:solidFill>
              </a:rPr>
              <a:t>Phase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52160" y="2807208"/>
            <a:ext cx="1783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27323F"/>
                </a:solidFill>
              </a:rPr>
              <a:t>Design Specification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6035040" y="3227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97586"/>
                </a:solidFill>
              </a:rPr>
              <a:t>20%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281160" y="1828800"/>
            <a:ext cx="548640" cy="548640"/>
          </a:xfrm>
          <a:prstGeom prst="ellipse">
            <a:avLst/>
          </a:prstGeom>
          <a:solidFill>
            <a:srgbClr val="C99700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9281160" y="19568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0" y="251460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033"/>
                </a:solidFill>
              </a:rPr>
              <a:t>Phase 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86800" y="2807208"/>
            <a:ext cx="1783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27323F"/>
                </a:solidFill>
              </a:rPr>
              <a:t>Implementation &amp; Presentation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8869680" y="3227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9700"/>
                </a:solidFill>
              </a:rPr>
              <a:t>50%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77240" y="384048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FFF5D5"/>
          </a:solidFill>
          <a:ln w="10160">
            <a:solidFill>
              <a:srgbClr val="EAD5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914400" y="3950208"/>
            <a:ext cx="4892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Phase 4 is not a new project. It is the implementation and presentation of the system developed through the earlier phases.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46520" y="3429000"/>
            <a:ext cx="4937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6720840" y="36393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033"/>
                </a:solidFill>
              </a:rPr>
              <a:t>Course outcomes reinforced here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720840" y="4023360"/>
            <a:ext cx="43434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27323F"/>
                </a:solidFill>
              </a:rPr>
              <a:t>• structured software-development process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27323F"/>
                </a:solidFill>
              </a:rPr>
              <a:t>• problem decomposition and critical evaluation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27323F"/>
                </a:solidFill>
              </a:rPr>
              <a:t>• appropriate tools for real-world problems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27323F"/>
                </a:solidFill>
              </a:rPr>
              <a:t>• effective teamwork and technical communication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C98A8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NPRT63 Project | Final Phase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4: Implementation &amp; Presentation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005840" cy="0"/>
          </a:xfrm>
          <a:prstGeom prst="line">
            <a:avLst/>
          </a:prstGeom>
          <a:noFill/>
          <a:ln w="381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586"/>
                </a:solidFill>
              </a:rPr>
              <a:t>The official Phase 4 focus is to build a working system and demonstrate functionality.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1508760"/>
            <a:ext cx="6583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868680" y="1783080"/>
            <a:ext cx="5943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33"/>
                </a:solidFill>
              </a:rPr>
              <a:t>We are now completing the final phase of the year project.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323F"/>
                </a:solidFill>
              </a:rPr>
              <a:t>The focus is to: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76148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946404" y="279349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234440" y="2743200"/>
            <a:ext cx="5212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Complete the working system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326440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946404" y="32964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234440" y="3246120"/>
            <a:ext cx="5212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Demonstrate its functionality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376732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946404" y="379933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34440" y="3749040"/>
            <a:ext cx="5212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Submit the required project artefacts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" y="427024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946404" y="43022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1234440" y="4251960"/>
            <a:ext cx="5212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Present and explain the completed solution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680" y="5074920"/>
            <a:ext cx="5806440" cy="502920"/>
          </a:xfrm>
          <a:prstGeom prst="roundRect">
            <a:avLst>
              <a:gd name="adj" fmla="val 14545"/>
            </a:avLst>
          </a:prstGeom>
          <a:solidFill>
            <a:srgbClr val="EAF2F8"/>
          </a:solidFill>
          <a:ln w="10160">
            <a:solidFill>
              <a:srgbClr val="EAD5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1005840" y="5184648"/>
            <a:ext cx="55321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No new project scope or requirements are being introduced. Continue with the project requirements already established during the year.</a:t>
            </a:r>
            <a:endParaRPr lang="en-US" sz="1250" dirty="0"/>
          </a:p>
        </p:txBody>
      </p:sp>
      <p:pic>
        <p:nvPicPr>
          <p:cNvPr id="26" name="Image 0" descr="/mnt/data/nprt_assets/page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570036"/>
            <a:ext cx="3931920" cy="221170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726680" y="6080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dirty="0">
                <a:solidFill>
                  <a:srgbClr val="697586"/>
                </a:solidFill>
              </a:rPr>
              <a:t>Lecturer guidance: Phase 4 — Implementation &amp; Presentation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C98A8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NPRT63 Project | Final Phase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Phase 4 already requires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005840" cy="0"/>
          </a:xfrm>
          <a:prstGeom prst="line">
            <a:avLst/>
          </a:prstGeom>
          <a:noFill/>
          <a:ln w="381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586"/>
                </a:solidFill>
              </a:rPr>
              <a:t>These are the established Phase 4 expectations students should now complete.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2514600" cy="4434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713232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17190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Technology Stack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130552"/>
            <a:ext cx="2148840" cy="0"/>
          </a:xfrm>
          <a:prstGeom prst="line">
            <a:avLst/>
          </a:prstGeom>
          <a:noFill/>
          <a:ln w="254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777240" y="2286000"/>
            <a:ext cx="205740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Java programming — prescribed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Oracle or SQL database connectivity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All features from Phases 2–3 implemented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429000" y="1508760"/>
            <a:ext cx="2514600" cy="4434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 dirty="0"/>
          </a:p>
        </p:txBody>
      </p:sp>
      <p:sp>
        <p:nvSpPr>
          <p:cNvPr id="15" name="Text 13"/>
          <p:cNvSpPr/>
          <p:nvPr/>
        </p:nvSpPr>
        <p:spPr>
          <a:xfrm>
            <a:off x="3593592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23360" y="17190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Code Quality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11880" y="2130552"/>
            <a:ext cx="2148840" cy="0"/>
          </a:xfrm>
          <a:prstGeom prst="line">
            <a:avLst/>
          </a:prstGeom>
          <a:noFill/>
          <a:ln w="25400">
            <a:solidFill>
              <a:srgbClr val="1C7C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657600" y="2286000"/>
            <a:ext cx="205740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Clean, well-documented code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Comprehensive testing performed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Error handling implemented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309360" y="1508760"/>
            <a:ext cx="2514600" cy="4434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473952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17190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Demonstration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2130552"/>
            <a:ext cx="2148840" cy="0"/>
          </a:xfrm>
          <a:prstGeom prst="line">
            <a:avLst/>
          </a:prstGeom>
          <a:noFill/>
          <a:ln w="25400">
            <a:solidFill>
              <a:srgbClr val="7A1E3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6537959" y="2286000"/>
            <a:ext cx="2164385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Pre-recorded presentation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Feature walkthrough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Technical</a:t>
            </a:r>
          </a:p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decisions explained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Q&amp;A with supervisor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9189720" y="1508760"/>
            <a:ext cx="2514600" cy="4434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9354312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84080" y="17190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</a:rPr>
              <a:t>Final Report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372600" y="2130552"/>
            <a:ext cx="2148840" cy="0"/>
          </a:xfrm>
          <a:prstGeom prst="line">
            <a:avLst/>
          </a:prstGeom>
          <a:noFill/>
          <a:ln w="25400">
            <a:solidFill>
              <a:srgbClr val="287D5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9418320" y="2286000"/>
            <a:ext cx="205740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7323F"/>
                </a:solidFill>
              </a:rPr>
              <a:t>• </a:t>
            </a:r>
            <a:r>
              <a:rPr lang="en-US" dirty="0">
                <a:solidFill>
                  <a:srgbClr val="27323F"/>
                </a:solidFill>
              </a:rPr>
              <a:t>Consolidates all four phases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Reflection on achievements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Comprehensive documentation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C98A8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NPRT63 Project | Final Phase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“implemented” mean?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005840" cy="0"/>
          </a:xfrm>
          <a:prstGeom prst="line">
            <a:avLst/>
          </a:prstGeom>
          <a:noFill/>
          <a:ln w="381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586"/>
                </a:solidFill>
              </a:rPr>
              <a:t>A system should not only open — it should work as the designed system.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033"/>
                </a:solidFill>
              </a:rPr>
              <a:t>Your final system should demonstrate that: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14400" y="225856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946404" y="229057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234440" y="2240280"/>
            <a:ext cx="4434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The application runs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2706624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946404" y="273862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234440" y="2688336"/>
            <a:ext cx="4434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Database connectivity works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3154680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946404" y="3186684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1234440" y="3136392"/>
            <a:ext cx="4434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Important functionality from Phases 2–3 is implemented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3602736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946404" y="363474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234440" y="3584448"/>
            <a:ext cx="4434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Major workflows operate from beginning to end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4050792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946404" y="4082796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34440" y="4032504"/>
            <a:ext cx="4434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Different parts of the system work together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4400" y="449884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946404" y="45308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234440" y="4480560"/>
            <a:ext cx="4434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The completed system reflects the earlier analysis and design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16002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  <a:effectLst>
            <a:outerShdw blurRad="1270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6446520" y="1737360"/>
            <a:ext cx="47548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Phase 4 is the implementation of the system you specified and designed in Phases 2 and 3.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537960" y="3063240"/>
            <a:ext cx="1234440" cy="786384"/>
          </a:xfrm>
          <a:prstGeom prst="hexagon">
            <a:avLst/>
          </a:prstGeom>
          <a:solidFill>
            <a:srgbClr val="EAF2F8"/>
          </a:solidFill>
          <a:ln w="12700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6629400" y="323697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02033"/>
                </a:solidFill>
              </a:rPr>
              <a:t>Requirements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6629400" y="345643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97586"/>
                </a:solidFill>
              </a:rPr>
              <a:t>Phase 2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7772400" y="3456432"/>
            <a:ext cx="384048" cy="0"/>
          </a:xfrm>
          <a:prstGeom prst="line">
            <a:avLst/>
          </a:prstGeom>
          <a:noFill/>
          <a:ln w="19050">
            <a:solidFill>
              <a:srgbClr val="6975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35" name="Shape 33"/>
          <p:cNvSpPr/>
          <p:nvPr/>
        </p:nvSpPr>
        <p:spPr>
          <a:xfrm>
            <a:off x="8138160" y="3063240"/>
            <a:ext cx="1234440" cy="786384"/>
          </a:xfrm>
          <a:prstGeom prst="hexagon">
            <a:avLst/>
          </a:prstGeom>
          <a:solidFill>
            <a:srgbClr val="EAF2F8"/>
          </a:solidFill>
          <a:ln w="12700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8229600" y="323697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02033"/>
                </a:solidFill>
              </a:rPr>
              <a:t>Design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8229600" y="345643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97586"/>
                </a:solidFill>
              </a:rPr>
              <a:t>Phase 3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9372600" y="3456432"/>
            <a:ext cx="384048" cy="0"/>
          </a:xfrm>
          <a:prstGeom prst="line">
            <a:avLst/>
          </a:prstGeom>
          <a:noFill/>
          <a:ln w="19050">
            <a:solidFill>
              <a:srgbClr val="69758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39" name="Shape 37"/>
          <p:cNvSpPr/>
          <p:nvPr/>
        </p:nvSpPr>
        <p:spPr>
          <a:xfrm>
            <a:off x="9738360" y="3063240"/>
            <a:ext cx="1234440" cy="786384"/>
          </a:xfrm>
          <a:prstGeom prst="hexagon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9829800" y="323697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Implementation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9829800" y="345643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FFFFFF"/>
                </a:solidFill>
              </a:rPr>
              <a:t>Phase 4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6263640" y="475488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FF5D5"/>
          </a:solidFill>
          <a:ln w="10160">
            <a:solidFill>
              <a:srgbClr val="EAD5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6400800" y="4864608"/>
            <a:ext cx="48463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The goal is not to redesign the project now; it is to complete and evidence the implementation of the agreed system.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C98A8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NPRT63 Project | Final Phase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quality &amp; system behaviour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005840" cy="0"/>
          </a:xfrm>
          <a:prstGeom prst="line">
            <a:avLst/>
          </a:prstGeom>
          <a:noFill/>
          <a:ln w="381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586"/>
                </a:solidFill>
              </a:rPr>
              <a:t>The code and the running system both provide evidence of implementation quality.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50876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6355080" y="150876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96012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Submitted code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120" y="235000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992124" y="23820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280160" y="2331720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Understandable and reasonably organised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0120" y="285292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992124" y="288493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280160" y="2834640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Appropriately documented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0120" y="335584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992124" y="33878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80160" y="3337560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Not dominated by broken/abandoned code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0120" y="385876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992124" y="389077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1280160" y="3840480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Reasonable separation of responsibilities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0120" y="436168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992124" y="439369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280160" y="4343400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Readable naming and structure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7512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System behaviour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675120" y="235000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6707124" y="23820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6995160" y="2331720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Testing performed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75120" y="285292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6707124" y="288493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6995160" y="2834640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Error handling implemented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675120" y="335584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6707124" y="33878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6995160" y="3337560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Invalid/unexpected input handled reasonably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675120" y="385876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6707124" y="389077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6995160" y="3840480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Application can be reliably executed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675120" y="436168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6707124" y="439369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995160" y="4343400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Functionality can be demonstrated live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920240" y="5989320"/>
            <a:ext cx="8321040" cy="429768"/>
          </a:xfrm>
          <a:prstGeom prst="roundRect">
            <a:avLst>
              <a:gd name="adj" fmla="val 17021"/>
            </a:avLst>
          </a:prstGeom>
          <a:solidFill>
            <a:srgbClr val="EAF2F8"/>
          </a:solidFill>
          <a:ln w="10160">
            <a:solidFill>
              <a:srgbClr val="EAD5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2057400" y="6099048"/>
            <a:ext cx="80467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Expectation: appropriate quality for a third-year undergraduate software project, not an industrial production system.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C98A8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NPRT63 Project | Final Phase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report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005840" cy="0"/>
          </a:xfrm>
          <a:prstGeom prst="line">
            <a:avLst/>
          </a:prstGeom>
          <a:noFill/>
          <a:ln w="381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586"/>
                </a:solidFill>
              </a:rPr>
              <a:t>The final report brings the four project phases together.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105156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The report should: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51560" y="244144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1083564" y="24734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371600" y="2423160"/>
            <a:ext cx="4206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Consolidate all four project phases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51560" y="3008376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1083564" y="304038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371600" y="2990088"/>
            <a:ext cx="4206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Represent the final completed solution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51560" y="3575304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1083564" y="360730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1371600" y="3557016"/>
            <a:ext cx="4206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Provide comprehensive project documentation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51560" y="4142232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1083564" y="4174236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371600" y="4123944"/>
            <a:ext cx="4206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Reflect on what the group achieved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1691640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7A1E3A"/>
          </a:solidFill>
          <a:ln w="12700">
            <a:solidFill>
              <a:srgbClr val="7A1E3A"/>
            </a:solidFill>
            <a:prstDash val="solid"/>
          </a:ln>
          <a:effectLst>
            <a:outerShdw blurRad="1270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6583680" y="1828800"/>
            <a:ext cx="4480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The earlier phases are not being restarted or separately re-marked.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0" y="2834640"/>
            <a:ext cx="4846320" cy="850392"/>
          </a:xfrm>
          <a:prstGeom prst="roundRect">
            <a:avLst>
              <a:gd name="adj" fmla="val 8602"/>
            </a:avLst>
          </a:prstGeom>
          <a:solidFill>
            <a:srgbClr val="FFF5D5"/>
          </a:solidFill>
          <a:ln w="10160">
            <a:solidFill>
              <a:srgbClr val="EAD5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6537960" y="2944368"/>
            <a:ext cx="457200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However, the final implementation should reasonably correspond with the requirements and design developed during the earlier phases.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0" y="4069080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EAF2F8"/>
          </a:solidFill>
          <a:ln w="10160">
            <a:solidFill>
              <a:srgbClr val="EAD5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537960" y="4178808"/>
            <a:ext cx="45720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The final report is the final consolidated record of the project and its implementation.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C98A8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NPRT63 Project | Final Phase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Pre-recorded presentation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005840" cy="0"/>
          </a:xfrm>
          <a:prstGeom prst="line">
            <a:avLst/>
          </a:prstGeom>
          <a:noFill/>
          <a:ln w="381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586"/>
                </a:solidFill>
              </a:rPr>
              <a:t>The recording is the prepared presentation and structured project walkthrough.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481328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96012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Use the recording to: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05840" y="235000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1037844" y="23820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325880" y="2331720"/>
            <a:ext cx="4526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Introduce the problem and solution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5840" y="2871216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1037844" y="290322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325880" y="2852928"/>
            <a:ext cx="4526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Present the completed artefact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5840" y="3392424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1037844" y="342442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1325880" y="3374136"/>
            <a:ext cx="4526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Walk through important functionality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05840" y="3913632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1037844" y="3945636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325880" y="3895344"/>
            <a:ext cx="4526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Explain important technical decisions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05840" y="4434840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1037844" y="4466844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325880" y="4416552"/>
            <a:ext cx="4526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Demonstrate what the group developed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0" y="1828800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  <a:effectLst>
            <a:outerShdw blurRad="1270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6766560" y="1965960"/>
            <a:ext cx="42976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You will not repeat the entire prepared presentation during the live session.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83680" y="315468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5D5"/>
          </a:solidFill>
          <a:ln w="10160">
            <a:solidFill>
              <a:srgbClr val="EAD5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6720840" y="3264408"/>
            <a:ext cx="43891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The live session will be used to verify the system and engage technically with the group.</a:t>
            </a:r>
            <a:endParaRPr lang="en-US" sz="1250" dirty="0"/>
          </a:p>
        </p:txBody>
      </p:sp>
      <p:pic>
        <p:nvPicPr>
          <p:cNvPr id="30" name="Image 0" descr="/mnt/data/nprt_assets/page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040" y="4206240"/>
            <a:ext cx="1950720" cy="10972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812280" y="5468112"/>
            <a:ext cx="4251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97586"/>
                </a:solidFill>
              </a:rPr>
              <a:t>Existing Phase 4 requirements include pre-recorded presentation, feature walkthrough, technical decisions, and Q&amp;A.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C98A8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NPRT63 Project | Final Phase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live assessment: 15 minutes per group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005840" cy="0"/>
          </a:xfrm>
          <a:prstGeom prst="line">
            <a:avLst/>
          </a:prstGeom>
          <a:noFill/>
          <a:ln w="381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586"/>
                </a:solidFill>
              </a:rPr>
              <a:t>Because the presentation is recorded, the live slot focuses on verification and engagement.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155448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960120" y="1828800"/>
            <a:ext cx="1325880" cy="320040"/>
          </a:xfrm>
          <a:prstGeom prst="roundRect">
            <a:avLst>
              <a:gd name="adj" fmla="val 42857"/>
            </a:avLst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960120" y="1888236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2033"/>
                </a:solidFill>
              </a:rPr>
              <a:t>≈ 5 MINUTES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60120" y="2286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Live system verification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0120" y="2788920"/>
            <a:ext cx="443484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7323F"/>
                </a:solidFill>
              </a:rPr>
              <a:t>• </a:t>
            </a:r>
            <a:r>
              <a:rPr lang="en-US" sz="1400" dirty="0">
                <a:solidFill>
                  <a:srgbClr val="27323F"/>
                </a:solidFill>
              </a:rPr>
              <a:t>Open and run the submitted system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7323F"/>
                </a:solidFill>
              </a:rPr>
              <a:t>• Demonstrate selected features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7323F"/>
                </a:solidFill>
              </a:rPr>
              <a:t>• Perform a requested workflow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7323F"/>
                </a:solidFill>
              </a:rPr>
              <a:t>• Create, retrieve or modify information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7323F"/>
                </a:solidFill>
              </a:rPr>
              <a:t>• Show database interaction or a particular system behaviour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1828800"/>
            <a:ext cx="1417320" cy="320040"/>
          </a:xfrm>
          <a:prstGeom prst="roundRect">
            <a:avLst>
              <a:gd name="adj" fmla="val 42857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6537960" y="1888236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≈ 10 MINUTES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537960" y="2286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Q&amp;A and technical engagement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7960" y="2788920"/>
            <a:ext cx="443484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23F"/>
                </a:solidFill>
              </a:rPr>
              <a:t>• Implementation decisions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7323F"/>
                </a:solidFill>
              </a:rPr>
              <a:t>• How features work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7323F"/>
                </a:solidFill>
              </a:rPr>
              <a:t>• Database interaction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7323F"/>
                </a:solidFill>
              </a:rPr>
              <a:t>• Testing and error handling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7323F"/>
                </a:solidFill>
              </a:rPr>
              <a:t>• Integration between components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7323F"/>
                </a:solidFill>
              </a:rPr>
              <a:t>• Challenges and individual understanding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51560" y="5989320"/>
            <a:ext cx="10058400" cy="429768"/>
          </a:xfrm>
          <a:prstGeom prst="roundRect">
            <a:avLst>
              <a:gd name="adj" fmla="val 17021"/>
            </a:avLst>
          </a:prstGeom>
          <a:solidFill>
            <a:srgbClr val="FFF5D5"/>
          </a:solidFill>
          <a:ln w="10160">
            <a:solidFill>
              <a:srgbClr val="EAD5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1188720" y="6099048"/>
            <a:ext cx="978408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Objective: verify and understand the submitted implementation — not to watch the recording again.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C98A8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NPRT63 Project | Final Phase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 project, individual understanding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005840" cy="0"/>
          </a:xfrm>
          <a:prstGeom prst="line">
            <a:avLst/>
          </a:prstGeom>
          <a:noFill/>
          <a:ln w="381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586"/>
                </a:solidFill>
              </a:rPr>
              <a:t>The project is submitted by a group, but learning and explanation cannot be outsourced to one member.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155448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886968" y="1810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700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1810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033"/>
                </a:solidFill>
              </a:rPr>
              <a:t>Understand the overall system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78608"/>
            <a:ext cx="25146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23F"/>
                </a:solidFill>
              </a:rPr>
              <a:t>• What problem does it solve?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7323F"/>
                </a:solidFill>
              </a:rPr>
              <a:t>• What are the major components?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7323F"/>
                </a:solidFill>
              </a:rPr>
              <a:t>• What are the main workflows?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155448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453128" y="1810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700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810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033"/>
                </a:solidFill>
              </a:rPr>
              <a:t>Explain your own contribution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2578608"/>
            <a:ext cx="25146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23F"/>
                </a:solidFill>
              </a:rPr>
              <a:t>• What did you work on?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7323F"/>
                </a:solidFill>
              </a:rPr>
              <a:t>• How does it work?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7323F"/>
                </a:solidFill>
              </a:rPr>
              <a:t>• What decisions were involved?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18120" y="1554480"/>
            <a:ext cx="3246120" cy="34747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8019288" y="1810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700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49640" y="1810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033"/>
                </a:solidFill>
              </a:rPr>
              <a:t>Understand integration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83880" y="2578608"/>
            <a:ext cx="25146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7323F"/>
                </a:solidFill>
              </a:rPr>
              <a:t>• How does your part connect?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7323F"/>
                </a:solidFill>
              </a:rPr>
              <a:t>• What data or services are involved?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7323F"/>
                </a:solidFill>
              </a:rPr>
              <a:t>• How does it fit the complete solution?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5394960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7A1E3A"/>
          </a:solidFill>
          <a:ln w="12700">
            <a:solidFill>
              <a:srgbClr val="7A1E3A"/>
            </a:solidFill>
            <a:prstDash val="solid"/>
          </a:ln>
          <a:effectLst>
            <a:outerShdw blurRad="1270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1051560" y="5532120"/>
            <a:ext cx="5120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Questions may be directed to any member of the group. One person should not answer all technical questions for everyone.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5394960"/>
            <a:ext cx="4572000" cy="749808"/>
          </a:xfrm>
          <a:prstGeom prst="roundRect">
            <a:avLst>
              <a:gd name="adj" fmla="val 9756"/>
            </a:avLst>
          </a:prstGeom>
          <a:solidFill>
            <a:srgbClr val="EAF2F8"/>
          </a:solidFill>
          <a:ln w="10160">
            <a:solidFill>
              <a:srgbClr val="EAD5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6766560" y="5504688"/>
            <a:ext cx="42976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You are not expected to know every line of code written by others, but you should understand the overall solution and your place within it.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C98A8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NPRT63 Project | Final Phase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considered and existing grading language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005840" cy="0"/>
          </a:xfrm>
          <a:prstGeom prst="line">
            <a:avLst/>
          </a:prstGeom>
          <a:noFill/>
          <a:ln w="381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586"/>
                </a:solidFill>
              </a:rPr>
              <a:t>The assessment evidence comes from the submitted artefacts, recorded presentation and live engagement.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50876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96012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Main evidence sources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0120" y="230428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992124" y="233629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4160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Submitted source code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0120" y="2743200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992124" y="2775204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280160" y="2724912"/>
            <a:ext cx="4160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Running system / demonstration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60120" y="3182112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992124" y="3214116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1280160" y="3163824"/>
            <a:ext cx="4160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Demo folder and pre-recorded presentation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0120" y="3621024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992124" y="365302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280160" y="3602736"/>
            <a:ext cx="4160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Final report and documentation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60120" y="4059936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992124" y="409194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80160" y="4041648"/>
            <a:ext cx="4160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Git repository link where required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60120" y="449884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992124" y="45308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280160" y="4480560"/>
            <a:ext cx="4160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Q&amp;A and technical engagement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150876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649224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Grading scale communicated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492240" y="233172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6492240" y="2395728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80–100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7635240" y="2350008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23F"/>
                </a:solidFill>
              </a:rPr>
              <a:t>Exceeds rubric requirements; creativity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92240" y="2816352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6492240" y="2880360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70–79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7635240" y="2834640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23F"/>
                </a:solidFill>
              </a:rPr>
              <a:t>All rubric requirements fulfilled completely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92240" y="3300984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1C7C89"/>
          </a:solidFill>
          <a:ln w="12700">
            <a:solidFill>
              <a:srgbClr val="1C7C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6492240" y="3364992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60–69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7635240" y="3319272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23F"/>
                </a:solidFill>
              </a:rPr>
              <a:t>Most requirements fulfilled adequately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92240" y="3785616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6492240" y="3849624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</a:rPr>
              <a:t>50–59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7635240" y="3803904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23F"/>
                </a:solidFill>
              </a:rPr>
              <a:t>Many requirements not fulfilled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92240" y="4270248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6492240" y="4334256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2033"/>
                </a:solidFill>
              </a:rPr>
              <a:t>&lt;50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7635240" y="4288536"/>
            <a:ext cx="33832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7323F"/>
                </a:solidFill>
              </a:rPr>
              <a:t>Failed to follow rubric requirements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C98A8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NPRT63 Project | Final Phase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submission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005840" cy="0"/>
          </a:xfrm>
          <a:prstGeom prst="line">
            <a:avLst/>
          </a:prstGeom>
          <a:noFill/>
          <a:ln w="381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586"/>
                </a:solidFill>
              </a:rPr>
              <a:t>Submit exactly according to the existing structure already communicated.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146304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1005840" y="1764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7586"/>
                </a:solidFill>
              </a:rPr>
              <a:t>Final submission date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</a:rPr>
              <a:t>Monday, 12 October 2026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323F"/>
                </a:solidFill>
              </a:rPr>
              <a:t>Use the existing submission structure: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3182112"/>
            <a:ext cx="4251960" cy="16002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1170432" y="3346704"/>
            <a:ext cx="38404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FULL-MODULE-CODE-3rd-year-GroupX-TeamLeader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Code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Demo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Dox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GroupX-Names.txt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1005840" y="5138928"/>
            <a:ext cx="4251960" cy="502920"/>
          </a:xfrm>
          <a:prstGeom prst="roundRect">
            <a:avLst>
              <a:gd name="adj" fmla="val 14545"/>
            </a:avLst>
          </a:prstGeom>
          <a:solidFill>
            <a:srgbClr val="FFF5D5"/>
          </a:solidFill>
          <a:ln w="10160">
            <a:solidFill>
              <a:srgbClr val="EAD5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1143000" y="5248656"/>
            <a:ext cx="3977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GroupX-Names.txt must include names, student numbers, and the Git repository link. Ensure all files and links are accessible.</a:t>
            </a:r>
            <a:endParaRPr lang="en-US" sz="1250" dirty="0"/>
          </a:p>
        </p:txBody>
      </p:sp>
      <p:pic>
        <p:nvPicPr>
          <p:cNvPr id="17" name="Image 0" descr="/mnt/data/nprt_assets/page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0263"/>
            <a:ext cx="5212080" cy="293179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675120" y="58064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97586"/>
                </a:solidFill>
              </a:rPr>
              <a:t>Existing submission template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C98A8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NPRT63 Project | Final Phase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you need a final consultation?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005840" cy="0"/>
          </a:xfrm>
          <a:prstGeom prst="line">
            <a:avLst/>
          </a:prstGeom>
          <a:noFill/>
          <a:ln w="381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586"/>
                </a:solidFill>
              </a:rPr>
              <a:t>Every group will have the opportunity for one final 30-minute consultation.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960120" y="1691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Consider requesting one if: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2240280"/>
            <a:ext cx="452628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7323F"/>
                </a:solidFill>
              </a:rPr>
              <a:t>• important functionality is incomplete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7323F"/>
                </a:solidFill>
              </a:rPr>
              <a:t>• the application is not running reliably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7323F"/>
                </a:solidFill>
              </a:rPr>
              <a:t>• database or integration problems remain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7323F"/>
                </a:solidFill>
              </a:rPr>
              <a:t>• features specified earlier are not implemented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7323F"/>
                </a:solidFill>
              </a:rPr>
              <a:t>• testing or error-handling gaps are significant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7323F"/>
                </a:solidFill>
              </a:rPr>
              <a:t>• you are not confident that you can demonstrate the system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7323F"/>
                </a:solidFill>
              </a:rPr>
              <a:t>• you need clarification on final submission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6629400" y="1691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1E3A"/>
                </a:solidFill>
              </a:rPr>
              <a:t>The consultation is NOT for: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2240280"/>
            <a:ext cx="4206240" cy="222744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changing the project topic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redesigning the entire project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introducing substantial new requirements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7323F"/>
                </a:solidFill>
              </a:rPr>
              <a:t>• starting a different implementation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629400" y="4800600"/>
            <a:ext cx="4434840" cy="594360"/>
          </a:xfrm>
          <a:prstGeom prst="roundRect">
            <a:avLst>
              <a:gd name="adj" fmla="val 12308"/>
            </a:avLst>
          </a:prstGeom>
          <a:solidFill>
            <a:srgbClr val="FFF5D5"/>
          </a:solidFill>
          <a:ln w="10160">
            <a:solidFill>
              <a:srgbClr val="EAD5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6766560" y="4910328"/>
            <a:ext cx="41605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Purpose: help you complete the established Phase 4 requirements, not introduce new project requirements.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C98A8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NPRT63 Project | Final Phase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Consultation arrangements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005840" cy="0"/>
          </a:xfrm>
          <a:prstGeom prst="line">
            <a:avLst/>
          </a:prstGeom>
          <a:noFill/>
          <a:ln w="381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586"/>
                </a:solidFill>
              </a:rPr>
              <a:t>First indicate what your group needs; then the timetable will be constructed from actual demand.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150876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33"/>
                </a:solidFill>
              </a:rPr>
              <a:t>Step 1: Tell me what your group needs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05840" y="235000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1037844" y="23820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325880" y="2331720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Do you require a final consultation? Yes / No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5840" y="2788920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1037844" y="2820924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325880" y="2770632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Preferred format: face-to-face / online / either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5840" y="3227832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1037844" y="3259836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1325880" y="3209544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Normal working-hours availability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05840" y="3666744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1037844" y="369874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325880" y="3648456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Online availability after 17:00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05840" y="4105656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1037844" y="413766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325880" y="4087368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Saturday availability if necessary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05840" y="4544568"/>
            <a:ext cx="210312" cy="21031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1037844" y="457657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✓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325880" y="4526280"/>
            <a:ext cx="4389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7323F"/>
                </a:solidFill>
              </a:rPr>
              <a:t>Which alternatives are acceptable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150876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6720840" y="2331720"/>
            <a:ext cx="416052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7323F"/>
                </a:solidFill>
              </a:rPr>
              <a:t>•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86600" y="2939796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EAF2F8"/>
          </a:solidFill>
          <a:ln w="10160">
            <a:solidFill>
              <a:srgbClr val="EAD5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7353148" y="3017520"/>
            <a:ext cx="38862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The consultation timetable will be constructed after the actual demand is known.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C98A8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46304" y="0"/>
            <a:ext cx="32004" cy="68580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58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NPRT63 Project | Final Phase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programme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005840" cy="0"/>
          </a:xfrm>
          <a:prstGeom prst="line">
            <a:avLst/>
          </a:prstGeom>
          <a:noFill/>
          <a:ln w="381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97586"/>
                </a:solidFill>
              </a:rPr>
              <a:t>The remaining period separates consultation, submission, preparation and live assessment.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51560" y="1783080"/>
            <a:ext cx="0" cy="4343400"/>
          </a:xfrm>
          <a:prstGeom prst="line">
            <a:avLst/>
          </a:prstGeom>
          <a:noFill/>
          <a:ln w="25400">
            <a:solidFill>
              <a:srgbClr val="BFC9D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850392" y="1600200"/>
            <a:ext cx="411480" cy="411480"/>
          </a:xfrm>
          <a:prstGeom prst="ellipse">
            <a:avLst/>
          </a:prstGeom>
          <a:solidFill>
            <a:srgbClr val="1020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1417320" y="158191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</a:rPr>
              <a:t>2–4 Oct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06040" y="15819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7323F"/>
                </a:solidFill>
              </a:rPr>
              <a:t>Consultation preferences and scheduling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850392" y="2386584"/>
            <a:ext cx="411480" cy="411480"/>
          </a:xfrm>
          <a:prstGeom prst="ellipse">
            <a:avLst/>
          </a:prstGeom>
          <a:solidFill>
            <a:srgbClr val="1020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1417320" y="23682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</a:rPr>
              <a:t>5–10 Oct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6040" y="23682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7323F"/>
                </a:solidFill>
              </a:rPr>
              <a:t>Final consultation period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50392" y="3172968"/>
            <a:ext cx="411480" cy="411480"/>
          </a:xfrm>
          <a:prstGeom prst="ellipse">
            <a:avLst/>
          </a:prstGeom>
          <a:solidFill>
            <a:srgbClr val="C997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1417320" y="31546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700"/>
                </a:solidFill>
              </a:rPr>
              <a:t>12 Oct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06040" y="31546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27323F"/>
                </a:solidFill>
              </a:rPr>
              <a:t>FINAL PROJECT SUBMISSION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850392" y="3959352"/>
            <a:ext cx="411480" cy="411480"/>
          </a:xfrm>
          <a:prstGeom prst="ellipse">
            <a:avLst/>
          </a:prstGeom>
          <a:solidFill>
            <a:srgbClr val="1020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1417320" y="39410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</a:rPr>
              <a:t>13 Oct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06040" y="39410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7323F"/>
                </a:solidFill>
              </a:rPr>
              <a:t>Presentation preparation / assessment buffer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850392" y="4745736"/>
            <a:ext cx="411480" cy="411480"/>
          </a:xfrm>
          <a:prstGeom prst="ellipse">
            <a:avLst/>
          </a:prstGeom>
          <a:solidFill>
            <a:srgbClr val="C997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1417320" y="47274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700"/>
                </a:solidFill>
              </a:rPr>
              <a:t>14–16 Oct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06040" y="47274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27323F"/>
                </a:solidFill>
              </a:rPr>
              <a:t>FINAL LIVE ASSESSMENT SESSIONS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850392" y="5532120"/>
            <a:ext cx="411480" cy="411480"/>
          </a:xfrm>
          <a:prstGeom prst="ellipse">
            <a:avLst/>
          </a:prstGeom>
          <a:solidFill>
            <a:srgbClr val="1020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1417320" y="551383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</a:rPr>
              <a:t>19 Oct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06040" y="55138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7323F"/>
                </a:solidFill>
              </a:rPr>
              <a:t>Examinations begin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7543800" y="16916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  <a:effectLst>
            <a:outerShdw blurRad="1270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7726680" y="1828800"/>
            <a:ext cx="34747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Final priority: complete the system you already designed, make sure it works, understand what your group built, submit it correctly, and be ready to demonstrate and explain it.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543800" y="406908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5D5"/>
          </a:solidFill>
          <a:ln w="10160">
            <a:solidFill>
              <a:srgbClr val="EAD5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7680960" y="4178808"/>
            <a:ext cx="3566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Presentation slots will be released separately for groups to select.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543800" y="4892040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EAF2F8"/>
          </a:solidFill>
          <a:ln w="10160">
            <a:solidFill>
              <a:srgbClr val="EAD5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7680960" y="500176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</a:rPr>
              <a:t>Live session format: 15 minutes per group — verification + Q&amp;A, not a repeat of the recording.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C98A8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1558</Words>
  <Application>Microsoft Office PowerPoint</Application>
  <PresentationFormat>Widescreen</PresentationFormat>
  <Paragraphs>343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Sol Plaatje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NPRT63 Final Project Phase 4 Briefing</dc:title>
  <dc:subject>NPRT63 Phase 4 final project briefing</dc:subject>
  <dc:creator>OpenAI</dc:creator>
  <cp:lastModifiedBy>Silas Verkijika</cp:lastModifiedBy>
  <cp:revision>2</cp:revision>
  <dcterms:created xsi:type="dcterms:W3CDTF">2026-10-02T06:49:14Z</dcterms:created>
  <dcterms:modified xsi:type="dcterms:W3CDTF">2026-10-02T12:23:42Z</dcterms:modified>
</cp:coreProperties>
</file>